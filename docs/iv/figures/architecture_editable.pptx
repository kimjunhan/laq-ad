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57897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80769" y="195023"/>
            <a:ext cx="3010671" cy="12920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667">
            <a:solidFill>
              <a:srgbClr val="B9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14847" y="304723"/>
            <a:ext cx="292534" cy="158456"/>
          </a:xfrm>
          <a:prstGeom prst="rect">
            <a:avLst/>
          </a:prstGeom>
          <a:solidFill>
            <a:srgbClr val="DEEAF6"/>
          </a:solidFill>
          <a:ln w="8572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17083" y="301473"/>
            <a:ext cx="2063345" cy="172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200" i="0" b="0">
                <a:solidFill>
                  <a:srgbClr val="1C2733"/>
                </a:solidFill>
                <a:latin typeface="Arial"/>
              </a:defRPr>
            </a:pPr>
            <a:r>
              <a:t>trainable — HiP-AD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214847" y="548502"/>
            <a:ext cx="292534" cy="158456"/>
          </a:xfrm>
          <a:prstGeom prst="rect">
            <a:avLst/>
          </a:prstGeom>
          <a:solidFill>
            <a:srgbClr val="FDEBD3"/>
          </a:solidFill>
          <a:ln w="12382">
            <a:solidFill>
              <a:srgbClr val="C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17083" y="545252"/>
            <a:ext cx="2242767" cy="172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200" i="0" b="0">
                <a:solidFill>
                  <a:srgbClr val="1C2733"/>
                </a:solidFill>
                <a:latin typeface="Arial"/>
              </a:defRPr>
            </a:pPr>
            <a:r>
              <a:t>trainable — ours (+0.53M)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4847" y="792281"/>
            <a:ext cx="292534" cy="158456"/>
          </a:xfrm>
          <a:prstGeom prst="rect">
            <a:avLst/>
          </a:prstGeom>
          <a:solidFill>
            <a:srgbClr val="EAE4F4"/>
          </a:solidFill>
          <a:ln w="9525">
            <a:solidFill>
              <a:srgbClr val="7E6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51414" y="819097"/>
            <a:ext cx="219401" cy="104824"/>
          </a:xfrm>
          <a:prstGeom prst="rect">
            <a:avLst/>
          </a:prstGeom>
          <a:noFill/>
          <a:ln w="4762">
            <a:solidFill>
              <a:srgbClr val="7E6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4548" y="806400"/>
            <a:ext cx="73133" cy="1375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i="0" b="0">
                <a:solidFill>
                  <a:srgbClr val="7E6BB5"/>
                </a:solidFill>
                <a:latin typeface="Arial"/>
              </a:defRPr>
            </a:pPr>
            <a:r>
              <a:t>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7083" y="789031"/>
            <a:ext cx="2242767" cy="172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200" i="0" b="0">
                <a:solidFill>
                  <a:srgbClr val="1C2733"/>
                </a:solidFill>
                <a:latin typeface="Arial"/>
              </a:defRPr>
            </a:pPr>
            <a:r>
              <a:t>frozen — Qwen2-VL-2B (2B)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14847" y="1036060"/>
            <a:ext cx="292534" cy="158456"/>
          </a:xfrm>
          <a:prstGeom prst="rect">
            <a:avLst/>
          </a:prstGeom>
          <a:solidFill>
            <a:srgbClr val="F5F5F5"/>
          </a:solidFill>
          <a:ln w="762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7083" y="1032810"/>
            <a:ext cx="2781031" cy="172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200" i="0" b="0">
                <a:solidFill>
                  <a:srgbClr val="1C2733"/>
                </a:solidFill>
                <a:latin typeface="Arial"/>
              </a:defRPr>
            </a:pPr>
            <a:r>
              <a:t>offline data / cache (no grad.)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4847" y="1282887"/>
            <a:ext cx="3027735" cy="164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gradients never reach the frozen VLM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889" y="50482"/>
            <a:ext cx="3111839" cy="191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400" i="1" b="0">
                <a:solidFill>
                  <a:srgbClr val="1C2733"/>
                </a:solidFill>
                <a:latin typeface="Arial"/>
              </a:defRPr>
            </a:pPr>
            <a:r>
              <a:t>geometry pathway (HiP-AD base)</a:t>
            </a:r>
          </a:p>
        </p:txBody>
      </p:sp>
      <p:pic>
        <p:nvPicPr>
          <p:cNvPr id="15" name="Picture 14" descr="n015-2018-08-03-12-54-49+0800__CAM_BACK__15332721910375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80" y="390046"/>
            <a:ext cx="1048249" cy="731337"/>
          </a:xfrm>
          <a:prstGeom prst="rect">
            <a:avLst/>
          </a:prstGeom>
          <a:ln w="10160">
            <a:solidFill>
              <a:srgbClr val="5B6B7A"/>
            </a:solidFill>
          </a:ln>
        </p:spPr>
      </p:pic>
      <p:pic>
        <p:nvPicPr>
          <p:cNvPr id="16" name="Picture 15" descr="n015-2018-11-14-19-52-02+0800__CAM_FRONT_LEFT__15421965831048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79" y="481463"/>
            <a:ext cx="1048249" cy="731337"/>
          </a:xfrm>
          <a:prstGeom prst="rect">
            <a:avLst/>
          </a:prstGeom>
          <a:ln w="10160">
            <a:solidFill>
              <a:srgbClr val="5B6B7A"/>
            </a:solidFill>
          </a:ln>
        </p:spPr>
      </p:pic>
      <p:pic>
        <p:nvPicPr>
          <p:cNvPr id="17" name="Picture 16" descr="n015-2018-10-02-11-23-23+0800__CAM_FRONT__153845114811246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79" y="572880"/>
            <a:ext cx="1048249" cy="731337"/>
          </a:xfrm>
          <a:prstGeom prst="rect">
            <a:avLst/>
          </a:prstGeom>
          <a:ln w="10160">
            <a:solidFill>
              <a:srgbClr val="5B6B7A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276262" y="1301475"/>
            <a:ext cx="1202683" cy="1761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200" i="0" b="0">
                <a:solidFill>
                  <a:srgbClr val="4B5866"/>
                </a:solidFill>
                <a:latin typeface="Arial"/>
              </a:defRPr>
            </a:pPr>
            <a:r>
              <a:t>6-view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126" y="1433014"/>
            <a:ext cx="1098955" cy="156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each 3×448×896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67398" y="426613"/>
            <a:ext cx="1462674" cy="877604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9525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300" b="0">
                <a:solidFill>
                  <a:srgbClr val="1C2733"/>
                </a:solidFill>
                <a:latin typeface="Arial"/>
              </a:defRPr>
            </a:pPr>
            <a:r>
              <a:t>image encoder</a:t>
            </a:r>
          </a:p>
          <a:p>
            <a:pPr algn="ctr">
              <a:defRPr sz="1300" b="0">
                <a:solidFill>
                  <a:srgbClr val="1C2733"/>
                </a:solidFill>
                <a:latin typeface="Arial"/>
              </a:defRPr>
            </a:pPr>
            <a:r>
              <a:t>ResNet-50 + FPN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63897" y="402235"/>
            <a:ext cx="926360" cy="682581"/>
          </a:xfrm>
          <a:prstGeom prst="rect">
            <a:avLst/>
          </a:prstGeom>
          <a:solidFill>
            <a:srgbClr val="EAF1F9"/>
          </a:solidFill>
          <a:ln w="6667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29819" y="499747"/>
            <a:ext cx="926360" cy="682581"/>
          </a:xfrm>
          <a:prstGeom prst="rect">
            <a:avLst/>
          </a:prstGeom>
          <a:solidFill>
            <a:srgbClr val="EAF1F9"/>
          </a:solidFill>
          <a:ln w="6667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95740" y="597258"/>
            <a:ext cx="926360" cy="682581"/>
          </a:xfrm>
          <a:prstGeom prst="rect">
            <a:avLst/>
          </a:prstGeom>
          <a:solidFill>
            <a:srgbClr val="EAF1F9"/>
          </a:solidFill>
          <a:ln w="6667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3779" y="786796"/>
            <a:ext cx="1850282" cy="3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200" i="0" b="0">
                <a:solidFill>
                  <a:srgbClr val="1C2733"/>
                </a:solidFill>
                <a:latin typeface="Arial"/>
              </a:defRPr>
            </a:pPr>
            <a:r>
              <a:t>multi-scale</a:t>
            </a:r>
          </a:p>
          <a:p>
            <a:pPr algn="ctr">
              <a:defRPr sz="1200" i="0" b="0">
                <a:solidFill>
                  <a:srgbClr val="1C2733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3179" y="1342409"/>
            <a:ext cx="1883924" cy="2649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6 views · 4 scales</a:t>
            </a:r>
          </a:p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C=256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50485" y="865415"/>
            <a:ext cx="280346" cy="0"/>
          </a:xfrm>
          <a:prstGeom prst="line">
            <a:avLst/>
          </a:prstGeom>
          <a:ln w="11430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54450" y="865415"/>
            <a:ext cx="304723" cy="0"/>
          </a:xfrm>
          <a:prstGeom prst="line">
            <a:avLst/>
          </a:prstGeom>
          <a:ln w="11430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8755" y="243779"/>
            <a:ext cx="1657697" cy="4132054"/>
          </a:xfrm>
          <a:prstGeom prst="roundRect">
            <a:avLst>
              <a:gd name="adj" fmla="val 10000"/>
            </a:avLst>
          </a:prstGeom>
          <a:noFill/>
          <a:ln w="6667">
            <a:solidFill>
              <a:srgbClr val="B9C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078" y="228542"/>
            <a:ext cx="504622" cy="164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00" y="1938043"/>
            <a:ext cx="1572374" cy="1554091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 w="8572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-10604" y="1967398"/>
            <a:ext cx="1788606" cy="160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task anchors &amp; queries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296" y="2083193"/>
            <a:ext cx="1300804" cy="160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k-means anchors: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4723" y="2303711"/>
            <a:ext cx="182834" cy="121889"/>
          </a:xfrm>
          <a:prstGeom prst="rect">
            <a:avLst/>
          </a:prstGeom>
          <a:noFill/>
          <a:ln w="8572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3479" y="2261050"/>
            <a:ext cx="182834" cy="121889"/>
          </a:xfrm>
          <a:prstGeom prst="rect">
            <a:avLst/>
          </a:prstGeom>
          <a:noFill/>
          <a:ln w="5714">
            <a:solidFill>
              <a:srgbClr val="92A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304723" y="2382940"/>
            <a:ext cx="48756" cy="42661"/>
          </a:xfrm>
          <a:prstGeom prst="line">
            <a:avLst/>
          </a:prstGeom>
          <a:ln w="5715">
            <a:solidFill>
              <a:srgbClr val="92AD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87558" y="2382940"/>
            <a:ext cx="48755" cy="42661"/>
          </a:xfrm>
          <a:prstGeom prst="line">
            <a:avLst/>
          </a:prstGeom>
          <a:ln w="5715">
            <a:solidFill>
              <a:srgbClr val="92AD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4723" y="2261050"/>
            <a:ext cx="48756" cy="42661"/>
          </a:xfrm>
          <a:prstGeom prst="line">
            <a:avLst/>
          </a:prstGeom>
          <a:ln w="5715">
            <a:solidFill>
              <a:srgbClr val="92AD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87558" y="2261050"/>
            <a:ext cx="48755" cy="42661"/>
          </a:xfrm>
          <a:prstGeom prst="line">
            <a:avLst/>
          </a:prstGeom>
          <a:ln w="5715">
            <a:solidFill>
              <a:srgbClr val="92AD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7903" y="2279334"/>
            <a:ext cx="73134" cy="134078"/>
          </a:xfrm>
          <a:prstGeom prst="line">
            <a:avLst/>
          </a:prstGeom>
          <a:ln w="13716">
            <a:solidFill>
              <a:srgbClr val="5E9E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1037" y="2279334"/>
            <a:ext cx="73134" cy="109700"/>
          </a:xfrm>
          <a:prstGeom prst="line">
            <a:avLst/>
          </a:prstGeom>
          <a:ln w="13716">
            <a:solidFill>
              <a:srgbClr val="5E9E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14171" y="2279334"/>
            <a:ext cx="73134" cy="109700"/>
          </a:xfrm>
          <a:prstGeom prst="line">
            <a:avLst/>
          </a:prstGeom>
          <a:ln w="13716">
            <a:solidFill>
              <a:srgbClr val="5E9E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48401" y="2393910"/>
            <a:ext cx="39004" cy="39004"/>
          </a:xfrm>
          <a:prstGeom prst="ellipse">
            <a:avLst/>
          </a:prstGeom>
          <a:solidFill>
            <a:srgbClr val="5E9E68"/>
          </a:solidFill>
          <a:ln w="2857">
            <a:solidFill>
              <a:srgbClr val="5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sp>
        <p:nvSpPr>
          <p:cNvPr id="43" name="Oval 42"/>
          <p:cNvSpPr/>
          <p:nvPr/>
        </p:nvSpPr>
        <p:spPr>
          <a:xfrm>
            <a:off x="821535" y="2259831"/>
            <a:ext cx="39004" cy="39004"/>
          </a:xfrm>
          <a:prstGeom prst="ellipse">
            <a:avLst/>
          </a:prstGeom>
          <a:solidFill>
            <a:srgbClr val="5E9E68"/>
          </a:solidFill>
          <a:ln w="2857">
            <a:solidFill>
              <a:srgbClr val="5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sp>
        <p:nvSpPr>
          <p:cNvPr id="44" name="Oval 43"/>
          <p:cNvSpPr/>
          <p:nvPr/>
        </p:nvSpPr>
        <p:spPr>
          <a:xfrm>
            <a:off x="894669" y="2369532"/>
            <a:ext cx="39004" cy="39004"/>
          </a:xfrm>
          <a:prstGeom prst="ellipse">
            <a:avLst/>
          </a:prstGeom>
          <a:solidFill>
            <a:srgbClr val="5E9E68"/>
          </a:solidFill>
          <a:ln w="2857">
            <a:solidFill>
              <a:srgbClr val="5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sp>
        <p:nvSpPr>
          <p:cNvPr id="45" name="Oval 44"/>
          <p:cNvSpPr/>
          <p:nvPr/>
        </p:nvSpPr>
        <p:spPr>
          <a:xfrm>
            <a:off x="967802" y="2259831"/>
            <a:ext cx="39004" cy="39004"/>
          </a:xfrm>
          <a:prstGeom prst="ellipse">
            <a:avLst/>
          </a:prstGeom>
          <a:solidFill>
            <a:srgbClr val="5E9E68"/>
          </a:solidFill>
          <a:ln w="2857">
            <a:solidFill>
              <a:srgbClr val="5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cxnSp>
        <p:nvCxnSpPr>
          <p:cNvPr id="46" name="Connector 45"/>
          <p:cNvCxnSpPr/>
          <p:nvPr/>
        </p:nvCxnSpPr>
        <p:spPr>
          <a:xfrm flipV="1">
            <a:off x="1218895" y="2370751"/>
            <a:ext cx="54850" cy="42661"/>
          </a:xfrm>
          <a:prstGeom prst="line">
            <a:avLst/>
          </a:prstGeom>
          <a:ln w="9144">
            <a:solidFill>
              <a:srgbClr val="C97A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273745" y="2334184"/>
            <a:ext cx="60945" cy="36567"/>
          </a:xfrm>
          <a:prstGeom prst="line">
            <a:avLst/>
          </a:prstGeom>
          <a:ln w="9144">
            <a:solidFill>
              <a:srgbClr val="C97A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334690" y="2309806"/>
            <a:ext cx="67039" cy="24378"/>
          </a:xfrm>
          <a:prstGeom prst="line">
            <a:avLst/>
          </a:prstGeom>
          <a:ln w="9144">
            <a:solidFill>
              <a:srgbClr val="C97A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401729" y="2291522"/>
            <a:ext cx="60945" cy="18284"/>
          </a:xfrm>
          <a:prstGeom prst="line">
            <a:avLst/>
          </a:prstGeom>
          <a:ln w="9144">
            <a:solidFill>
              <a:srgbClr val="C97A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196955" y="2391472"/>
            <a:ext cx="43880" cy="43880"/>
          </a:xfrm>
          <a:prstGeom prst="ellipse">
            <a:avLst/>
          </a:prstGeom>
          <a:solidFill>
            <a:srgbClr val="C97A96"/>
          </a:solidFill>
          <a:ln w="2857">
            <a:solidFill>
              <a:srgbClr val="C97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sp>
        <p:nvSpPr>
          <p:cNvPr id="51" name="Oval 50"/>
          <p:cNvSpPr/>
          <p:nvPr/>
        </p:nvSpPr>
        <p:spPr>
          <a:xfrm>
            <a:off x="1251805" y="2348811"/>
            <a:ext cx="43880" cy="43880"/>
          </a:xfrm>
          <a:prstGeom prst="ellipse">
            <a:avLst/>
          </a:prstGeom>
          <a:solidFill>
            <a:srgbClr val="C97A96"/>
          </a:solidFill>
          <a:ln w="2857">
            <a:solidFill>
              <a:srgbClr val="C97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sp>
        <p:nvSpPr>
          <p:cNvPr id="52" name="Oval 51"/>
          <p:cNvSpPr/>
          <p:nvPr/>
        </p:nvSpPr>
        <p:spPr>
          <a:xfrm>
            <a:off x="1312750" y="2312244"/>
            <a:ext cx="43880" cy="43880"/>
          </a:xfrm>
          <a:prstGeom prst="ellipse">
            <a:avLst/>
          </a:prstGeom>
          <a:solidFill>
            <a:srgbClr val="C97A96"/>
          </a:solidFill>
          <a:ln w="2857">
            <a:solidFill>
              <a:srgbClr val="C97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sp>
        <p:nvSpPr>
          <p:cNvPr id="53" name="Oval 52"/>
          <p:cNvSpPr/>
          <p:nvPr/>
        </p:nvSpPr>
        <p:spPr>
          <a:xfrm>
            <a:off x="1379789" y="2287866"/>
            <a:ext cx="43880" cy="43880"/>
          </a:xfrm>
          <a:prstGeom prst="ellipse">
            <a:avLst/>
          </a:prstGeom>
          <a:solidFill>
            <a:srgbClr val="C97A96"/>
          </a:solidFill>
          <a:ln w="2857">
            <a:solidFill>
              <a:srgbClr val="C97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sp>
        <p:nvSpPr>
          <p:cNvPr id="54" name="Oval 53"/>
          <p:cNvSpPr/>
          <p:nvPr/>
        </p:nvSpPr>
        <p:spPr>
          <a:xfrm>
            <a:off x="1440734" y="2269582"/>
            <a:ext cx="43880" cy="43880"/>
          </a:xfrm>
          <a:prstGeom prst="ellipse">
            <a:avLst/>
          </a:prstGeom>
          <a:solidFill>
            <a:srgbClr val="C97A96"/>
          </a:solidFill>
          <a:ln w="2857">
            <a:solidFill>
              <a:srgbClr val="C97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152179" y="2429969"/>
            <a:ext cx="451356" cy="1375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i="0" b="0">
                <a:solidFill>
                  <a:srgbClr val="1C2733"/>
                </a:solidFill>
                <a:latin typeface="Arial"/>
              </a:defRPr>
            </a:pPr>
            <a:r>
              <a:t>det 900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020" y="2429969"/>
            <a:ext cx="451356" cy="1375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i="0" b="0">
                <a:solidFill>
                  <a:srgbClr val="1C2733"/>
                </a:solidFill>
                <a:latin typeface="Arial"/>
              </a:defRPr>
            </a:pPr>
            <a:r>
              <a:t>map 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1622" y="2429969"/>
            <a:ext cx="515836" cy="1375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900" i="0" b="0">
                <a:solidFill>
                  <a:srgbClr val="1C2733"/>
                </a:solidFill>
                <a:latin typeface="Arial"/>
              </a:defRPr>
            </a:pPr>
            <a:r>
              <a:t>plan/ego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83699" y="2553585"/>
            <a:ext cx="0" cy="30472"/>
          </a:xfrm>
          <a:prstGeom prst="line">
            <a:avLst/>
          </a:prstGeom>
          <a:ln w="9144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01117" y="2596246"/>
            <a:ext cx="1365162" cy="26815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7620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0">
                <a:solidFill>
                  <a:srgbClr val="1C2733"/>
                </a:solidFill>
                <a:latin typeface="Arial"/>
              </a:defRPr>
            </a:pPr>
            <a:r>
              <a:t>anchor encoder (MLP)</a:t>
            </a:r>
          </a:p>
          <a:p>
            <a:pPr algn="ctr">
              <a:defRPr sz="1000" b="0">
                <a:solidFill>
                  <a:srgbClr val="1C2733"/>
                </a:solidFill>
                <a:latin typeface="Arial"/>
              </a:defRPr>
            </a:pPr>
            <a:r>
              <a:t>→ positional emb.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261556" y="2882687"/>
            <a:ext cx="0" cy="42661"/>
          </a:xfrm>
          <a:prstGeom prst="line">
            <a:avLst/>
          </a:prstGeom>
          <a:ln w="9144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188422" y="2931442"/>
            <a:ext cx="146267" cy="146267"/>
          </a:xfrm>
          <a:prstGeom prst="ellipse">
            <a:avLst/>
          </a:prstGeom>
          <a:solidFill>
            <a:srgbClr val="FFFFFF"/>
          </a:solidFill>
          <a:ln w="8572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>
                <a:solidFill>
                  <a:srgbClr val="1C2733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-1009976" y="2891422"/>
            <a:ext cx="2192304" cy="2263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900" i="0" b="0">
                <a:solidFill>
                  <a:srgbClr val="1C2733"/>
                </a:solidFill>
                <a:latin typeface="Arial"/>
              </a:defRPr>
            </a:pPr>
            <a:r>
              <a:t>learnable instance</a:t>
            </a:r>
          </a:p>
          <a:p>
            <a:pPr algn="r">
              <a:defRPr sz="900" i="0" b="0">
                <a:solidFill>
                  <a:srgbClr val="1C2733"/>
                </a:solidFill>
                <a:latin typeface="Arial"/>
              </a:defRPr>
            </a:pPr>
            <a:r>
              <a:t>feature (256-d)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61556" y="3083804"/>
            <a:ext cx="0" cy="73134"/>
          </a:xfrm>
          <a:prstGeom prst="line">
            <a:avLst/>
          </a:prstGeom>
          <a:ln w="9144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16912" y="3169127"/>
            <a:ext cx="680143" cy="146267"/>
          </a:xfrm>
          <a:prstGeom prst="rect">
            <a:avLst/>
          </a:prstGeom>
          <a:solidFill>
            <a:srgbClr val="658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7056" y="3169127"/>
            <a:ext cx="283393" cy="146267"/>
          </a:xfrm>
          <a:prstGeom prst="rect">
            <a:avLst/>
          </a:prstGeom>
          <a:solidFill>
            <a:srgbClr val="76A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80449" y="3169127"/>
            <a:ext cx="170035" cy="146267"/>
          </a:xfrm>
          <a:prstGeom prst="rect">
            <a:avLst/>
          </a:prstGeom>
          <a:solidFill>
            <a:srgbClr val="D1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16912" y="3169127"/>
            <a:ext cx="1133572" cy="146267"/>
          </a:xfrm>
          <a:prstGeom prst="rect">
            <a:avLst/>
          </a:prstGeom>
          <a:noFill/>
          <a:ln w="6667">
            <a:solidFill>
              <a:srgbClr val="4B5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3296" y="3338655"/>
            <a:ext cx="1300804" cy="160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queries F: N×256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669886" y="3248355"/>
            <a:ext cx="377857" cy="0"/>
          </a:xfrm>
          <a:prstGeom prst="line">
            <a:avLst/>
          </a:prstGeom>
          <a:ln w="11430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121889" y="3607929"/>
            <a:ext cx="1462674" cy="69477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762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0">
                <a:solidFill>
                  <a:srgbClr val="1C2733"/>
                </a:solidFill>
                <a:latin typeface="Arial"/>
              </a:defRPr>
            </a:pPr>
            <a:r>
              <a:t>temporal</a:t>
            </a:r>
          </a:p>
          <a:p>
            <a:pPr algn="ctr">
              <a:defRPr sz="1100" b="0">
                <a:solidFill>
                  <a:srgbClr val="1C2733"/>
                </a:solidFill>
                <a:latin typeface="Arial"/>
              </a:defRPr>
            </a:pPr>
            <a:r>
              <a:t>instance bank</a:t>
            </a:r>
          </a:p>
          <a:p>
            <a:pPr algn="ctr">
              <a:defRPr sz="1100" b="0">
                <a:solidFill>
                  <a:srgbClr val="1C2733"/>
                </a:solidFill>
                <a:latin typeface="Arial"/>
              </a:defRPr>
            </a:pPr>
            <a:r>
              <a:t>(600 det propagated)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853226" y="3479945"/>
            <a:ext cx="0" cy="109701"/>
          </a:xfrm>
          <a:prstGeom prst="line">
            <a:avLst/>
          </a:prstGeom>
          <a:ln w="11430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621130" y="3985787"/>
            <a:ext cx="511936" cy="353479"/>
          </a:xfrm>
          <a:prstGeom prst="line">
            <a:avLst/>
          </a:prstGeom>
          <a:ln w="9144">
            <a:solidFill>
              <a:srgbClr val="8A8A8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80396" y="4360597"/>
            <a:ext cx="1345660" cy="164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IDs → next frame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89287" y="1889287"/>
            <a:ext cx="6972080" cy="243779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 w="9525">
            <a:solidFill>
              <a:srgbClr val="9DB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2121" y="2084107"/>
            <a:ext cx="2237160" cy="195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400" i="0" b="0">
                <a:solidFill>
                  <a:srgbClr val="1C2733"/>
                </a:solidFill>
                <a:latin typeface="Arial"/>
              </a:defRPr>
            </a:pPr>
            <a:r>
              <a:t>unified decoder layer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96499" y="2493758"/>
            <a:ext cx="1825051" cy="168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200" i="0" b="0">
                <a:solidFill>
                  <a:srgbClr val="7A8694"/>
                </a:solidFill>
                <a:latin typeface="Arial"/>
              </a:defRPr>
            </a:pPr>
            <a:r>
              <a:t>in: queries F (N×256)</a:t>
            </a:r>
          </a:p>
        </p:txBody>
      </p:sp>
      <p:cxnSp>
        <p:nvCxnSpPr>
          <p:cNvPr id="77" name="Connector 76"/>
          <p:cNvCxnSpPr/>
          <p:nvPr/>
        </p:nvCxnSpPr>
        <p:spPr>
          <a:xfrm flipH="1">
            <a:off x="8178786" y="2059932"/>
            <a:ext cx="292535" cy="0"/>
          </a:xfrm>
          <a:prstGeom prst="curvedConnector3">
            <a:avLst/>
          </a:prstGeom>
          <a:ln w="10287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496065" y="2118744"/>
            <a:ext cx="218669" cy="1992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500" i="0" b="0">
                <a:solidFill>
                  <a:srgbClr val="1C2733"/>
                </a:solidFill>
                <a:latin typeface="Arial"/>
              </a:defRPr>
            </a:pPr>
            <a:r>
              <a:t>×6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072121" y="2742514"/>
            <a:ext cx="1218895" cy="85322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9525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self-attention</a:t>
            </a:r>
          </a:p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(concat tasks)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595740" y="2742514"/>
            <a:ext cx="1279839" cy="85322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9525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task deformable</a:t>
            </a:r>
          </a:p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aggregation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119359" y="2742514"/>
            <a:ext cx="609447" cy="85322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9525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FFN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8208" y="2742514"/>
            <a:ext cx="1779586" cy="853226"/>
          </a:xfrm>
          <a:prstGeom prst="roundRect">
            <a:avLst>
              <a:gd name="adj" fmla="val 10000"/>
            </a:avLst>
          </a:prstGeom>
          <a:solidFill>
            <a:srgbClr val="FDEBD3"/>
          </a:solidFill>
          <a:ln w="14287">
            <a:solidFill>
              <a:srgbClr val="C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language-query fusion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947196" y="2742514"/>
            <a:ext cx="792281" cy="85322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9525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split &amp;</a:t>
            </a:r>
          </a:p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refine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291017" y="3169127"/>
            <a:ext cx="304723" cy="0"/>
          </a:xfrm>
          <a:prstGeom prst="line">
            <a:avLst/>
          </a:prstGeom>
          <a:ln w="10287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75580" y="3169127"/>
            <a:ext cx="243779" cy="0"/>
          </a:xfrm>
          <a:prstGeom prst="line">
            <a:avLst/>
          </a:prstGeom>
          <a:ln w="10287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728807" y="3169127"/>
            <a:ext cx="219401" cy="0"/>
          </a:xfrm>
          <a:prstGeom prst="line">
            <a:avLst/>
          </a:prstGeom>
          <a:ln w="10287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727795" y="3169127"/>
            <a:ext cx="219401" cy="0"/>
          </a:xfrm>
          <a:prstGeom prst="line">
            <a:avLst/>
          </a:prstGeom>
          <a:ln w="10287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758999" y="3011483"/>
            <a:ext cx="156993" cy="156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4B5866"/>
                </a:solidFill>
                <a:latin typeface="Arial"/>
              </a:defRPr>
            </a:pPr>
            <a:r>
              <a:t>F′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448967" y="1316406"/>
            <a:ext cx="0" cy="1377352"/>
          </a:xfrm>
          <a:prstGeom prst="line">
            <a:avLst/>
          </a:prstGeom>
          <a:ln w="11430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7313371" y="2632813"/>
            <a:ext cx="377857" cy="207212"/>
          </a:xfrm>
          <a:prstGeom prst="roundRect">
            <a:avLst>
              <a:gd name="adj" fmla="val 10000"/>
            </a:avLst>
          </a:prstGeom>
          <a:solidFill>
            <a:srgbClr val="C9741F"/>
          </a:solidFill>
          <a:ln w="9525">
            <a:solidFill>
              <a:srgbClr val="C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ours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96499" y="3952267"/>
            <a:ext cx="4205188" cy="164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layers 2–6 also attend propagated temporal queries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531760" y="1718642"/>
            <a:ext cx="2559679" cy="2730325"/>
          </a:xfrm>
          <a:prstGeom prst="roundRect">
            <a:avLst>
              <a:gd name="adj" fmla="val 10000"/>
            </a:avLst>
          </a:prstGeom>
          <a:solidFill>
            <a:srgbClr val="F6FAF6"/>
          </a:solidFill>
          <a:ln w="7620">
            <a:solidFill>
              <a:srgbClr val="A8C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349029" y="1813411"/>
            <a:ext cx="925141" cy="1761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200" i="0" b="0">
                <a:solidFill>
                  <a:srgbClr val="4E7A57"/>
                </a:solidFill>
                <a:latin typeface="Arial"/>
              </a:defRPr>
            </a:pPr>
            <a:r>
              <a:t>task heads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690216" y="2059932"/>
            <a:ext cx="2254956" cy="63382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9525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detection head</a:t>
            </a:r>
          </a:p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(track = instance-bank IDs)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690216" y="2888781"/>
            <a:ext cx="2254956" cy="63382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9525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map head</a:t>
            </a:r>
          </a:p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vectorized elements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90216" y="3717630"/>
            <a:ext cx="2254956" cy="633825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9525">
            <a:solidFill>
              <a:srgbClr val="4A7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motion · planning head</a:t>
            </a:r>
          </a:p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(stage 2)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31758" y="1934996"/>
            <a:ext cx="1766179" cy="396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updated</a:t>
            </a:r>
          </a:p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queries</a:t>
            </a:r>
          </a:p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N×256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8873557" y="2376845"/>
            <a:ext cx="792281" cy="767904"/>
          </a:xfrm>
          <a:prstGeom prst="line">
            <a:avLst/>
          </a:prstGeom>
          <a:ln w="10287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873557" y="3144749"/>
            <a:ext cx="792281" cy="60945"/>
          </a:xfrm>
          <a:prstGeom prst="line">
            <a:avLst/>
          </a:prstGeom>
          <a:ln w="10287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873557" y="3144749"/>
            <a:ext cx="792281" cy="889794"/>
          </a:xfrm>
          <a:prstGeom prst="line">
            <a:avLst/>
          </a:prstGeom>
          <a:ln w="10287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-339645" y="4939979"/>
            <a:ext cx="2385743" cy="3343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400" i="1" b="0">
                <a:solidFill>
                  <a:srgbClr val="C9741F"/>
                </a:solidFill>
                <a:latin typeface="Arial"/>
              </a:defRPr>
            </a:pPr>
            <a:r>
              <a:t>language pathway</a:t>
            </a:r>
          </a:p>
          <a:p>
            <a:pPr algn="ctr">
              <a:defRPr sz="1400" i="1" b="0">
                <a:solidFill>
                  <a:srgbClr val="C9741F"/>
                </a:solidFill>
                <a:latin typeface="Arial"/>
              </a:defRPr>
            </a:pPr>
            <a:r>
              <a:t>(ours)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900970" y="4497723"/>
            <a:ext cx="3863897" cy="1170139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8572">
            <a:solidFill>
              <a:srgbClr val="D9A4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7238" y="4539572"/>
            <a:ext cx="4036980" cy="172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defRPr sz="1200" i="0" b="0">
                <a:solidFill>
                  <a:srgbClr val="9A6A28"/>
                </a:solidFill>
                <a:latin typeface="Arial"/>
              </a:defRPr>
            </a:pPr>
            <a:r>
              <a:t>offline — once per sample, no VLM in training</a:t>
            </a:r>
          </a:p>
        </p:txBody>
      </p:sp>
      <p:cxnSp>
        <p:nvCxnSpPr>
          <p:cNvPr id="104" name="Connector 103"/>
          <p:cNvCxnSpPr/>
          <p:nvPr/>
        </p:nvCxnSpPr>
        <p:spPr>
          <a:xfrm flipH="1">
            <a:off x="73133" y="914171"/>
            <a:ext cx="158457" cy="0"/>
          </a:xfrm>
          <a:prstGeom prst="line">
            <a:avLst/>
          </a:prstGeom>
          <a:ln w="10287">
            <a:solidFill>
              <a:srgbClr val="C06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3133" y="914171"/>
            <a:ext cx="0" cy="4485534"/>
          </a:xfrm>
          <a:prstGeom prst="line">
            <a:avLst/>
          </a:prstGeom>
          <a:ln w="10287">
            <a:solidFill>
              <a:srgbClr val="C06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3133" y="5399705"/>
            <a:ext cx="2852215" cy="0"/>
          </a:xfrm>
          <a:prstGeom prst="line">
            <a:avLst/>
          </a:prstGeom>
          <a:ln w="10287">
            <a:solidFill>
              <a:srgbClr val="C06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925348" y="5357044"/>
            <a:ext cx="134078" cy="42661"/>
          </a:xfrm>
          <a:prstGeom prst="line">
            <a:avLst/>
          </a:prstGeom>
          <a:ln w="10287">
            <a:solidFill>
              <a:srgbClr val="C068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25546" y="5235967"/>
            <a:ext cx="2747389" cy="156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C06818"/>
                </a:solidFill>
                <a:latin typeface="Arial"/>
              </a:defRPr>
            </a:pPr>
            <a:r>
              <a:t>same 6 views, resized 200×28×28/cam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071615" y="4814636"/>
            <a:ext cx="1316406" cy="633825"/>
          </a:xfrm>
          <a:prstGeom prst="roundRect">
            <a:avLst>
              <a:gd name="adj" fmla="val 10000"/>
            </a:avLst>
          </a:prstGeom>
          <a:solidFill>
            <a:srgbClr val="EAE4F4"/>
          </a:solidFill>
          <a:ln w="13334">
            <a:solidFill>
              <a:srgbClr val="7E6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3132560" y="4869486"/>
            <a:ext cx="1194517" cy="524124"/>
          </a:xfrm>
          <a:prstGeom prst="roundRect">
            <a:avLst>
              <a:gd name="adj" fmla="val 10000"/>
            </a:avLst>
          </a:prstGeom>
          <a:solidFill>
            <a:srgbClr val="EAE4F4"/>
          </a:solidFill>
          <a:ln w="5714">
            <a:solidFill>
              <a:srgbClr val="7E6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100" b="0">
                <a:solidFill>
                  <a:srgbClr val="1C2733"/>
                </a:solidFill>
                <a:latin typeface="Arial"/>
              </a:defRPr>
            </a:pPr>
            <a:r>
              <a:t>❄ Qwen2-VL-2B</a:t>
            </a:r>
          </a:p>
          <a:p>
            <a:pPr algn="ctr">
              <a:defRPr sz="1100" b="0">
                <a:solidFill>
                  <a:srgbClr val="1C2733"/>
                </a:solidFill>
                <a:latin typeface="Arial"/>
              </a:defRPr>
            </a:pPr>
            <a:r>
              <a:t>(frozen VLM,</a:t>
            </a:r>
          </a:p>
          <a:p>
            <a:pPr algn="ctr">
              <a:defRPr sz="1100" b="0">
                <a:solidFill>
                  <a:srgbClr val="1C2733"/>
                </a:solidFill>
                <a:latin typeface="Arial"/>
              </a:defRPr>
            </a:pPr>
            <a:r>
              <a:t>28 layers)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82148" y="5501686"/>
            <a:ext cx="3689351" cy="156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7A8694"/>
                </a:solidFill>
                <a:latin typeface="Arial"/>
              </a:defRPr>
            </a:pPr>
            <a:r>
              <a:t>fixed prompt: “objects, lanes, traffic state …”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46479" y="4778069"/>
            <a:ext cx="1779586" cy="6947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631801" y="4985281"/>
            <a:ext cx="32910" cy="286440"/>
          </a:xfrm>
          <a:prstGeom prst="rect">
            <a:avLst/>
          </a:prstGeom>
          <a:solidFill>
            <a:srgbClr val="D2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79338" y="4985281"/>
            <a:ext cx="32910" cy="286440"/>
          </a:xfrm>
          <a:prstGeom prst="rect">
            <a:avLst/>
          </a:prstGeom>
          <a:solidFill>
            <a:srgbClr val="918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726875" y="4985281"/>
            <a:ext cx="32910" cy="286440"/>
          </a:xfrm>
          <a:prstGeom prst="rect">
            <a:avLst/>
          </a:prstGeom>
          <a:solidFill>
            <a:srgbClr val="A49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774412" y="4985281"/>
            <a:ext cx="32910" cy="286440"/>
          </a:xfrm>
          <a:prstGeom prst="rect">
            <a:avLst/>
          </a:prstGeom>
          <a:solidFill>
            <a:srgbClr val="B6A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821949" y="4985281"/>
            <a:ext cx="32910" cy="286440"/>
          </a:xfrm>
          <a:prstGeom prst="rect">
            <a:avLst/>
          </a:prstGeom>
          <a:solidFill>
            <a:srgbClr val="C9C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869486" y="4985281"/>
            <a:ext cx="32910" cy="286440"/>
          </a:xfrm>
          <a:prstGeom prst="rect">
            <a:avLst/>
          </a:prstGeom>
          <a:solidFill>
            <a:srgbClr val="887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917023" y="4985281"/>
            <a:ext cx="32910" cy="286440"/>
          </a:xfrm>
          <a:prstGeom prst="rect">
            <a:avLst/>
          </a:prstGeom>
          <a:solidFill>
            <a:srgbClr val="9B8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964560" y="4985281"/>
            <a:ext cx="32910" cy="286440"/>
          </a:xfrm>
          <a:prstGeom prst="rect">
            <a:avLst/>
          </a:prstGeom>
          <a:solidFill>
            <a:srgbClr val="ADA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012097" y="4985281"/>
            <a:ext cx="32910" cy="286440"/>
          </a:xfrm>
          <a:prstGeom prst="rect">
            <a:avLst/>
          </a:prstGeom>
          <a:solidFill>
            <a:srgbClr val="BFB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059633" y="4985281"/>
            <a:ext cx="32910" cy="286440"/>
          </a:xfrm>
          <a:prstGeom prst="rect">
            <a:avLst/>
          </a:prstGeom>
          <a:solidFill>
            <a:srgbClr val="D2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107170" y="4985281"/>
            <a:ext cx="32910" cy="286440"/>
          </a:xfrm>
          <a:prstGeom prst="rect">
            <a:avLst/>
          </a:prstGeom>
          <a:solidFill>
            <a:srgbClr val="918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154707" y="4985281"/>
            <a:ext cx="32910" cy="286440"/>
          </a:xfrm>
          <a:prstGeom prst="rect">
            <a:avLst/>
          </a:prstGeom>
          <a:solidFill>
            <a:srgbClr val="A49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202244" y="4985281"/>
            <a:ext cx="32910" cy="286440"/>
          </a:xfrm>
          <a:prstGeom prst="rect">
            <a:avLst/>
          </a:prstGeom>
          <a:solidFill>
            <a:srgbClr val="B6A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249781" y="4985281"/>
            <a:ext cx="32910" cy="286440"/>
          </a:xfrm>
          <a:prstGeom prst="rect">
            <a:avLst/>
          </a:prstGeom>
          <a:solidFill>
            <a:srgbClr val="C9C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297318" y="4985281"/>
            <a:ext cx="32910" cy="286440"/>
          </a:xfrm>
          <a:prstGeom prst="rect">
            <a:avLst/>
          </a:prstGeom>
          <a:solidFill>
            <a:srgbClr val="887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344855" y="4985281"/>
            <a:ext cx="32910" cy="286440"/>
          </a:xfrm>
          <a:prstGeom prst="rect">
            <a:avLst/>
          </a:prstGeom>
          <a:solidFill>
            <a:srgbClr val="9B8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392392" y="4985281"/>
            <a:ext cx="32910" cy="286440"/>
          </a:xfrm>
          <a:prstGeom prst="rect">
            <a:avLst/>
          </a:prstGeom>
          <a:solidFill>
            <a:srgbClr val="ADA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439929" y="4985281"/>
            <a:ext cx="32910" cy="286440"/>
          </a:xfrm>
          <a:prstGeom prst="rect">
            <a:avLst/>
          </a:prstGeom>
          <a:solidFill>
            <a:srgbClr val="BFB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487466" y="4985281"/>
            <a:ext cx="32910" cy="286440"/>
          </a:xfrm>
          <a:prstGeom prst="rect">
            <a:avLst/>
          </a:prstGeom>
          <a:solidFill>
            <a:srgbClr val="D2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535003" y="4985281"/>
            <a:ext cx="32910" cy="286440"/>
          </a:xfrm>
          <a:prstGeom prst="rect">
            <a:avLst/>
          </a:prstGeom>
          <a:solidFill>
            <a:srgbClr val="918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582540" y="4985281"/>
            <a:ext cx="32910" cy="286440"/>
          </a:xfrm>
          <a:prstGeom prst="rect">
            <a:avLst/>
          </a:prstGeom>
          <a:solidFill>
            <a:srgbClr val="A49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630076" y="4985281"/>
            <a:ext cx="32910" cy="286440"/>
          </a:xfrm>
          <a:prstGeom prst="rect">
            <a:avLst/>
          </a:prstGeom>
          <a:solidFill>
            <a:srgbClr val="B6A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677613" y="4985281"/>
            <a:ext cx="32910" cy="286440"/>
          </a:xfrm>
          <a:prstGeom prst="rect">
            <a:avLst/>
          </a:prstGeom>
          <a:solidFill>
            <a:srgbClr val="C9C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725150" y="4985281"/>
            <a:ext cx="32910" cy="286440"/>
          </a:xfrm>
          <a:prstGeom prst="rect">
            <a:avLst/>
          </a:prstGeom>
          <a:solidFill>
            <a:srgbClr val="887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772687" y="4985281"/>
            <a:ext cx="32910" cy="286440"/>
          </a:xfrm>
          <a:prstGeom prst="rect">
            <a:avLst/>
          </a:prstGeom>
          <a:solidFill>
            <a:srgbClr val="9B8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820224" y="4985281"/>
            <a:ext cx="32910" cy="286440"/>
          </a:xfrm>
          <a:prstGeom prst="rect">
            <a:avLst/>
          </a:prstGeom>
          <a:solidFill>
            <a:srgbClr val="ADA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867761" y="4985281"/>
            <a:ext cx="32910" cy="286440"/>
          </a:xfrm>
          <a:prstGeom prst="rect">
            <a:avLst/>
          </a:prstGeom>
          <a:solidFill>
            <a:srgbClr val="BFB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915298" y="4985281"/>
            <a:ext cx="32910" cy="286440"/>
          </a:xfrm>
          <a:prstGeom prst="rect">
            <a:avLst/>
          </a:prstGeom>
          <a:solidFill>
            <a:srgbClr val="D2C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962835" y="4985281"/>
            <a:ext cx="32910" cy="286440"/>
          </a:xfrm>
          <a:prstGeom prst="rect">
            <a:avLst/>
          </a:prstGeom>
          <a:solidFill>
            <a:srgbClr val="E7C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010372" y="4985281"/>
            <a:ext cx="32910" cy="286440"/>
          </a:xfrm>
          <a:prstGeom prst="rect">
            <a:avLst/>
          </a:prstGeom>
          <a:solidFill>
            <a:srgbClr val="D08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057909" y="4985281"/>
            <a:ext cx="32910" cy="286440"/>
          </a:xfrm>
          <a:prstGeom prst="rect">
            <a:avLst/>
          </a:prstGeom>
          <a:solidFill>
            <a:srgbClr val="D9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105446" y="4985281"/>
            <a:ext cx="32910" cy="286440"/>
          </a:xfrm>
          <a:prstGeom prst="rect">
            <a:avLst/>
          </a:prstGeom>
          <a:solidFill>
            <a:srgbClr val="E2B5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152982" y="4985281"/>
            <a:ext cx="32910" cy="286440"/>
          </a:xfrm>
          <a:prstGeom prst="rect">
            <a:avLst/>
          </a:prstGeom>
          <a:solidFill>
            <a:srgbClr val="CC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200519" y="4985281"/>
            <a:ext cx="32910" cy="286440"/>
          </a:xfrm>
          <a:prstGeom prst="rect">
            <a:avLst/>
          </a:prstGeom>
          <a:solidFill>
            <a:srgbClr val="D592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663919" y="4813518"/>
            <a:ext cx="1544705" cy="160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tokens H (layer 18)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65798" y="5292747"/>
            <a:ext cx="1740948" cy="1529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i="0" b="0">
                <a:solidFill>
                  <a:srgbClr val="7A8694"/>
                </a:solidFill>
                <a:latin typeface="Arial"/>
              </a:defRPr>
            </a:pPr>
            <a:r>
              <a:t>1159×1536, bf16 → cache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4412400" y="5131548"/>
            <a:ext cx="109701" cy="0"/>
          </a:xfrm>
          <a:prstGeom prst="line">
            <a:avLst/>
          </a:prstGeom>
          <a:ln w="11430">
            <a:solidFill>
              <a:srgbClr val="C068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6947702" y="4814636"/>
            <a:ext cx="1157950" cy="706959"/>
          </a:xfrm>
          <a:prstGeom prst="roundRect">
            <a:avLst>
              <a:gd name="adj" fmla="val 10000"/>
            </a:avLst>
          </a:prstGeom>
          <a:solidFill>
            <a:srgbClr val="FDEBD3"/>
          </a:solidFill>
          <a:ln w="12382">
            <a:solidFill>
              <a:srgbClr val="C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2-layer MLP</a:t>
            </a:r>
          </a:p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1536→512→256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6350443" y="5155926"/>
            <a:ext cx="572881" cy="0"/>
          </a:xfrm>
          <a:prstGeom prst="line">
            <a:avLst/>
          </a:prstGeom>
          <a:ln w="11430">
            <a:solidFill>
              <a:srgbClr val="C068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8349432" y="4473345"/>
            <a:ext cx="3778575" cy="1218895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7620">
            <a:solidFill>
              <a:srgbClr val="D9A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961524" y="4445920"/>
            <a:ext cx="1093348" cy="164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1100" i="0" b="0">
                <a:solidFill>
                  <a:srgbClr val="9A6A28"/>
                </a:solidFill>
                <a:latin typeface="Arial"/>
              </a:defRPr>
            </a:pPr>
            <a:r>
              <a:t>fusion detail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16699" y="4528500"/>
            <a:ext cx="1438174" cy="1529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defRPr sz="1000" i="0" b="0">
                <a:solidFill>
                  <a:srgbClr val="9A6A28"/>
                </a:solidFill>
                <a:latin typeface="Arial"/>
              </a:defRPr>
            </a:pPr>
            <a:r>
              <a:t>(per decoder layer)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446943" y="4704935"/>
            <a:ext cx="468055" cy="158456"/>
          </a:xfrm>
          <a:prstGeom prst="rect">
            <a:avLst/>
          </a:prstGeom>
          <a:solidFill>
            <a:srgbClr val="658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14999" y="4704935"/>
            <a:ext cx="195023" cy="158456"/>
          </a:xfrm>
          <a:prstGeom prst="rect">
            <a:avLst/>
          </a:prstGeom>
          <a:solidFill>
            <a:srgbClr val="76A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110022" y="4704935"/>
            <a:ext cx="117013" cy="158456"/>
          </a:xfrm>
          <a:prstGeom prst="rect">
            <a:avLst/>
          </a:prstGeom>
          <a:solidFill>
            <a:srgbClr val="D1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446943" y="4704935"/>
            <a:ext cx="780092" cy="158456"/>
          </a:xfrm>
          <a:prstGeom prst="rect">
            <a:avLst/>
          </a:prstGeom>
          <a:noFill/>
          <a:ln w="6667">
            <a:solidFill>
              <a:srgbClr val="4B5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247532" y="4886652"/>
            <a:ext cx="1300804" cy="160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queries F: N×256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9251414" y="4784163"/>
            <a:ext cx="182834" cy="0"/>
          </a:xfrm>
          <a:prstGeom prst="line">
            <a:avLst/>
          </a:prstGeom>
          <a:ln w="11430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9294685" y="4622660"/>
            <a:ext cx="84103" cy="164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Q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458626" y="4607423"/>
            <a:ext cx="1048249" cy="353479"/>
          </a:xfrm>
          <a:prstGeom prst="roundRect">
            <a:avLst>
              <a:gd name="adj" fmla="val 10000"/>
            </a:avLst>
          </a:prstGeom>
          <a:solidFill>
            <a:srgbClr val="FDEBD3"/>
          </a:solidFill>
          <a:ln w="11429">
            <a:solidFill>
              <a:srgbClr val="C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multi-head</a:t>
            </a:r>
          </a:p>
          <a:p>
            <a:pPr algn="ctr">
              <a:defRPr sz="1200" b="0">
                <a:solidFill>
                  <a:srgbClr val="1C2733"/>
                </a:solidFill>
                <a:latin typeface="Arial"/>
              </a:defRPr>
            </a:pPr>
            <a:r>
              <a:t>cross-attn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0531254" y="4784163"/>
            <a:ext cx="60945" cy="0"/>
          </a:xfrm>
          <a:prstGeom prst="line">
            <a:avLst/>
          </a:prstGeom>
          <a:ln w="11430">
            <a:solidFill>
              <a:srgbClr val="C068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10594637" y="4713467"/>
            <a:ext cx="141391" cy="141391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>
                <a:solidFill>
                  <a:srgbClr val="1C2733"/>
                </a:solidFill>
                <a:latin typeface="Arial"/>
              </a:defRPr>
            </a:pPr>
            <a:r>
              <a:t>⊙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775033" y="4889805"/>
            <a:ext cx="109700" cy="52814"/>
          </a:xfrm>
          <a:prstGeom prst="rect">
            <a:avLst/>
          </a:prstGeom>
          <a:solidFill>
            <a:srgbClr val="D7E1EC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884734" y="4889805"/>
            <a:ext cx="109700" cy="52814"/>
          </a:xfrm>
          <a:prstGeom prst="rect">
            <a:avLst/>
          </a:prstGeom>
          <a:solidFill>
            <a:srgbClr val="9EC4A4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0994434" y="4889805"/>
            <a:ext cx="109700" cy="52814"/>
          </a:xfrm>
          <a:prstGeom prst="rect">
            <a:avLst/>
          </a:prstGeom>
          <a:solidFill>
            <a:srgbClr val="EBCDD8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775033" y="4836990"/>
            <a:ext cx="109700" cy="52814"/>
          </a:xfrm>
          <a:prstGeom prst="rect">
            <a:avLst/>
          </a:prstGeom>
          <a:solidFill>
            <a:srgbClr val="7697BD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884734" y="4836990"/>
            <a:ext cx="109700" cy="52814"/>
          </a:xfrm>
          <a:prstGeom prst="rect">
            <a:avLst/>
          </a:prstGeom>
          <a:solidFill>
            <a:srgbClr val="AACCAF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994434" y="4836990"/>
            <a:ext cx="109700" cy="52814"/>
          </a:xfrm>
          <a:prstGeom prst="rect">
            <a:avLst/>
          </a:prstGeom>
          <a:solidFill>
            <a:srgbClr val="EFD8E0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775033" y="4784175"/>
            <a:ext cx="109700" cy="52814"/>
          </a:xfrm>
          <a:prstGeom prst="rect">
            <a:avLst/>
          </a:prstGeom>
          <a:solidFill>
            <a:srgbClr val="84A2C4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0884734" y="4784175"/>
            <a:ext cx="109700" cy="52814"/>
          </a:xfrm>
          <a:prstGeom prst="rect">
            <a:avLst/>
          </a:prstGeom>
          <a:solidFill>
            <a:srgbClr val="B6D3BB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994434" y="4784175"/>
            <a:ext cx="109700" cy="52814"/>
          </a:xfrm>
          <a:prstGeom prst="rect">
            <a:avLst/>
          </a:prstGeom>
          <a:solidFill>
            <a:srgbClr val="F3E2E8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775033" y="4731361"/>
            <a:ext cx="109700" cy="52814"/>
          </a:xfrm>
          <a:prstGeom prst="rect">
            <a:avLst/>
          </a:prstGeom>
          <a:solidFill>
            <a:srgbClr val="92ACCA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884734" y="4731361"/>
            <a:ext cx="109700" cy="52814"/>
          </a:xfrm>
          <a:prstGeom prst="rect">
            <a:avLst/>
          </a:prstGeom>
          <a:solidFill>
            <a:srgbClr val="C3DBC7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0994434" y="4731361"/>
            <a:ext cx="109700" cy="52814"/>
          </a:xfrm>
          <a:prstGeom prst="rect">
            <a:avLst/>
          </a:prstGeom>
          <a:solidFill>
            <a:srgbClr val="D69AAF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0775033" y="4678546"/>
            <a:ext cx="109700" cy="52814"/>
          </a:xfrm>
          <a:prstGeom prst="rect">
            <a:avLst/>
          </a:prstGeom>
          <a:solidFill>
            <a:srgbClr val="9FB7D1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884734" y="4678546"/>
            <a:ext cx="109700" cy="52814"/>
          </a:xfrm>
          <a:prstGeom prst="rect">
            <a:avLst/>
          </a:prstGeom>
          <a:solidFill>
            <a:srgbClr val="CFE2D2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994434" y="4678546"/>
            <a:ext cx="109700" cy="52814"/>
          </a:xfrm>
          <a:prstGeom prst="rect">
            <a:avLst/>
          </a:prstGeom>
          <a:solidFill>
            <a:srgbClr val="DAA4B7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775033" y="4625731"/>
            <a:ext cx="109700" cy="52814"/>
          </a:xfrm>
          <a:prstGeom prst="rect">
            <a:avLst/>
          </a:prstGeom>
          <a:solidFill>
            <a:srgbClr val="ADC1D8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884734" y="4625731"/>
            <a:ext cx="109700" cy="52814"/>
          </a:xfrm>
          <a:prstGeom prst="rect">
            <a:avLst/>
          </a:prstGeom>
          <a:solidFill>
            <a:srgbClr val="DCEADE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994434" y="4625731"/>
            <a:ext cx="109700" cy="52814"/>
          </a:xfrm>
          <a:prstGeom prst="rect">
            <a:avLst/>
          </a:prstGeom>
          <a:solidFill>
            <a:srgbClr val="DEAFC0"/>
          </a:solidFill>
          <a:ln w="2857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775033" y="4625707"/>
            <a:ext cx="329101" cy="316912"/>
          </a:xfrm>
          <a:prstGeom prst="rect">
            <a:avLst/>
          </a:prstGeom>
          <a:noFill/>
          <a:ln w="11429">
            <a:solidFill>
              <a:srgbClr val="C97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233112" y="4943432"/>
            <a:ext cx="1412943" cy="1568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g: 6×3×256, init 0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11128513" y="4784163"/>
            <a:ext cx="146267" cy="0"/>
          </a:xfrm>
          <a:prstGeom prst="line">
            <a:avLst/>
          </a:prstGeom>
          <a:ln w="11430">
            <a:solidFill>
              <a:srgbClr val="C068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11280875" y="4680557"/>
            <a:ext cx="207212" cy="2072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3B46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400">
                <a:solidFill>
                  <a:srgbClr val="1C2733"/>
                </a:solidFill>
                <a:latin typeface="Arial"/>
              </a:defRPr>
            </a:pPr>
            <a:r>
              <a:t>+</a:t>
            </a:r>
          </a:p>
        </p:txBody>
      </p:sp>
      <p:cxnSp>
        <p:nvCxnSpPr>
          <p:cNvPr id="187" name="Connector 186"/>
          <p:cNvCxnSpPr/>
          <p:nvPr/>
        </p:nvCxnSpPr>
        <p:spPr>
          <a:xfrm flipV="1">
            <a:off x="8958879" y="4674463"/>
            <a:ext cx="2413413" cy="24377"/>
          </a:xfrm>
          <a:prstGeom prst="curvedConnector3">
            <a:avLst/>
          </a:prstGeom>
          <a:ln w="9144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9738363" y="4427332"/>
            <a:ext cx="756933" cy="1529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00" i="0" b="0">
                <a:solidFill>
                  <a:srgbClr val="4B5866"/>
                </a:solidFill>
                <a:latin typeface="Arial"/>
              </a:defRPr>
            </a:pPr>
            <a:r>
              <a:t>residual F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11494181" y="4784163"/>
            <a:ext cx="121890" cy="0"/>
          </a:xfrm>
          <a:prstGeom prst="line">
            <a:avLst/>
          </a:prstGeom>
          <a:ln w="11430">
            <a:solidFill>
              <a:srgbClr val="3B465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11628260" y="4704935"/>
            <a:ext cx="270594" cy="158456"/>
          </a:xfrm>
          <a:prstGeom prst="rect">
            <a:avLst/>
          </a:prstGeom>
          <a:solidFill>
            <a:srgbClr val="658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1898854" y="4704935"/>
            <a:ext cx="112747" cy="158456"/>
          </a:xfrm>
          <a:prstGeom prst="rect">
            <a:avLst/>
          </a:prstGeom>
          <a:solidFill>
            <a:srgbClr val="76A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2011602" y="4704935"/>
            <a:ext cx="67648" cy="158456"/>
          </a:xfrm>
          <a:prstGeom prst="rect">
            <a:avLst/>
          </a:prstGeom>
          <a:solidFill>
            <a:srgbClr val="D1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1628260" y="4704935"/>
            <a:ext cx="450991" cy="158456"/>
          </a:xfrm>
          <a:prstGeom prst="rect">
            <a:avLst/>
          </a:prstGeom>
          <a:noFill/>
          <a:ln w="6667">
            <a:solidFill>
              <a:srgbClr val="4B5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1772455" y="4886652"/>
            <a:ext cx="162600" cy="160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F′</a:t>
            </a:r>
          </a:p>
        </p:txBody>
      </p:sp>
      <p:cxnSp>
        <p:nvCxnSpPr>
          <p:cNvPr id="195" name="Connector 194"/>
          <p:cNvCxnSpPr/>
          <p:nvPr/>
        </p:nvCxnSpPr>
        <p:spPr>
          <a:xfrm flipV="1">
            <a:off x="8117842" y="4985281"/>
            <a:ext cx="1730831" cy="268157"/>
          </a:xfrm>
          <a:prstGeom prst="line">
            <a:avLst/>
          </a:prstGeom>
          <a:ln w="11430">
            <a:solidFill>
              <a:srgbClr val="C068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8338340" y="5211894"/>
            <a:ext cx="1216701" cy="168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200" i="0" b="0">
                <a:solidFill>
                  <a:srgbClr val="C06818"/>
                </a:solidFill>
                <a:latin typeface="Arial"/>
              </a:defRPr>
            </a:pPr>
            <a:r>
              <a:t>K, V: 1159×256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883814" y="5372280"/>
            <a:ext cx="4709811" cy="164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A = softmax(QKᵀ/√d)·V;   F′ = F + g⊙A,   g ∈ ℝ^(6×3×256)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084261" y="5532666"/>
            <a:ext cx="4308916" cy="160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 i="0" b="0">
                <a:solidFill>
                  <a:srgbClr val="1C2733"/>
                </a:solidFill>
                <a:latin typeface="Arial"/>
              </a:defRPr>
            </a:pPr>
            <a:r>
              <a:t>per layer/task/channel gate;  g = 0 ⇒ unfused forward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6009153" y="3607929"/>
            <a:ext cx="2425601" cy="853227"/>
          </a:xfrm>
          <a:prstGeom prst="line">
            <a:avLst/>
          </a:prstGeom>
          <a:ln w="8001">
            <a:solidFill>
              <a:srgbClr val="C9A2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679039" y="3607929"/>
            <a:ext cx="1523619" cy="853227"/>
          </a:xfrm>
          <a:prstGeom prst="line">
            <a:avLst/>
          </a:prstGeom>
          <a:ln w="8001">
            <a:solidFill>
              <a:srgbClr val="C9A2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